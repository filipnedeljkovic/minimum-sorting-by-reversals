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66" r:id="rId3"/>
    <p:sldId id="257" r:id="rId4"/>
    <p:sldId id="258" r:id="rId5"/>
    <p:sldId id="259" r:id="rId6"/>
    <p:sldId id="267" r:id="rId7"/>
    <p:sldId id="260" r:id="rId8"/>
    <p:sldId id="261" r:id="rId9"/>
    <p:sldId id="265" r:id="rId10"/>
    <p:sldId id="262" r:id="rId11"/>
    <p:sldId id="263" r:id="rId12"/>
    <p:sldId id="271" r:id="rId13"/>
    <p:sldId id="268" r:id="rId14"/>
    <p:sldId id="269" r:id="rId15"/>
    <p:sldId id="270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/>
          <p:cNvGrpSpPr/>
          <p:nvPr/>
        </p:nvGrpSpPr>
        <p:grpSpPr>
          <a:xfrm>
            <a:off x="0" y="-30477"/>
            <a:ext cx="9067800" cy="6889273"/>
            <a:chOff x="0" y="-30477"/>
            <a:chExt cx="9067800" cy="6889273"/>
          </a:xfrm>
        </p:grpSpPr>
        <p:cxnSp>
          <p:nvCxnSpPr>
            <p:cNvPr id="110" name="Straight Connector 109"/>
            <p:cNvCxnSpPr/>
            <p:nvPr/>
          </p:nvCxnSpPr>
          <p:spPr>
            <a:xfrm rot="16200000" flipH="1">
              <a:off x="-1447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 rot="16200000" flipH="1">
              <a:off x="-1638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rot="5400000">
              <a:off x="-1485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rot="5400000">
              <a:off x="-32385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rot="16200000" flipH="1">
              <a:off x="-33147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rot="16200000" flipH="1">
              <a:off x="-1371600" y="2971800"/>
              <a:ext cx="6858000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 rot="16200000" flipH="1">
              <a:off x="-2819400" y="3200400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 rot="5400000">
              <a:off x="-2705099" y="3238500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 rot="16200000" flipH="1">
              <a:off x="-21336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rot="16200000" flipH="1">
              <a:off x="-31242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rot="16200000" flipH="1">
              <a:off x="-1828799" y="3352799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rot="16200000" flipH="1">
              <a:off x="-28194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rot="16200000" flipH="1">
              <a:off x="-2438400" y="3124200"/>
              <a:ext cx="6858000" cy="609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 rot="5400000">
              <a:off x="-173164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 rot="5400000">
              <a:off x="-1142048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rot="5400000">
              <a:off x="-9144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rot="5400000">
              <a:off x="-185547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rot="16200000" flipH="1">
              <a:off x="-26431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 rot="16200000" flipH="1">
              <a:off x="-1954530" y="3326130"/>
              <a:ext cx="6858000" cy="20574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 rot="16200000" flipH="1">
              <a:off x="-2362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rot="16200000" flipH="1">
              <a:off x="-21336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rot="16200000" flipH="1">
              <a:off x="1066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rot="16200000" flipH="1">
              <a:off x="876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rot="5400000">
              <a:off x="1028700" y="3238500"/>
              <a:ext cx="6858000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rot="5400000">
              <a:off x="-7239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rot="16200000" flipH="1">
              <a:off x="-8001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/>
          </p:nvCxnSpPr>
          <p:spPr>
            <a:xfrm rot="5400000">
              <a:off x="-152400" y="3429000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/>
          </p:nvCxnSpPr>
          <p:spPr>
            <a:xfrm rot="16200000" flipH="1">
              <a:off x="-304800" y="3200400"/>
              <a:ext cx="6858000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/>
          </p:nvCxnSpPr>
          <p:spPr>
            <a:xfrm rot="5400000">
              <a:off x="-190499" y="3238500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rot="16200000" flipH="1">
              <a:off x="3810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rot="16200000" flipH="1">
              <a:off x="-6096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rot="16200000" flipH="1">
              <a:off x="685801" y="3352799"/>
              <a:ext cx="6858000" cy="152401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rot="16200000" flipH="1">
              <a:off x="-304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rot="5400000">
              <a:off x="-10287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rot="5400000">
              <a:off x="78295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 rot="5400000">
              <a:off x="1372552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/>
          </p:nvCxnSpPr>
          <p:spPr>
            <a:xfrm rot="5400000">
              <a:off x="1600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 rot="5400000">
              <a:off x="65913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rot="16200000" flipH="1">
              <a:off x="-1285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rot="16200000" flipH="1">
              <a:off x="560070" y="3326130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rot="16200000" flipH="1">
              <a:off x="1524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rot="16200000" flipH="1">
              <a:off x="3810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/>
          </p:nvCxnSpPr>
          <p:spPr>
            <a:xfrm rot="16200000" flipH="1">
              <a:off x="2743200" y="3352801"/>
              <a:ext cx="6858000" cy="1524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 rot="16200000" flipH="1">
              <a:off x="2095501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/>
          </p:nvCxnSpPr>
          <p:spPr>
            <a:xfrm rot="5400000">
              <a:off x="2705100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 rot="5400000">
              <a:off x="1828801" y="3276600"/>
              <a:ext cx="6857999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/>
          </p:nvCxnSpPr>
          <p:spPr>
            <a:xfrm rot="16200000" flipH="1">
              <a:off x="1066800" y="3200402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/>
          </p:nvCxnSpPr>
          <p:spPr>
            <a:xfrm rot="16200000" flipH="1">
              <a:off x="2362201" y="3352800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/>
          </p:nvCxnSpPr>
          <p:spPr>
            <a:xfrm rot="5400000">
              <a:off x="2646045" y="2722246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/>
          </p:nvCxnSpPr>
          <p:spPr>
            <a:xfrm rot="5400000">
              <a:off x="3048952" y="3277553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/>
          </p:nvCxnSpPr>
          <p:spPr>
            <a:xfrm rot="5400000">
              <a:off x="2895600" y="3276601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/>
          </p:nvCxnSpPr>
          <p:spPr>
            <a:xfrm rot="5400000">
              <a:off x="2388870" y="3227071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/>
          </p:nvCxnSpPr>
          <p:spPr>
            <a:xfrm rot="16200000" flipH="1">
              <a:off x="22364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/>
          </p:nvCxnSpPr>
          <p:spPr>
            <a:xfrm rot="16200000" flipH="1">
              <a:off x="17526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/>
          </p:nvCxnSpPr>
          <p:spPr>
            <a:xfrm rot="16200000" flipH="1">
              <a:off x="19812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/>
          </p:nvCxnSpPr>
          <p:spPr>
            <a:xfrm rot="5400000">
              <a:off x="3467100" y="3314701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/>
          </p:nvCxnSpPr>
          <p:spPr>
            <a:xfrm rot="16200000" flipH="1">
              <a:off x="3467099" y="3314701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/>
          </p:nvCxnSpPr>
          <p:spPr>
            <a:xfrm rot="5400000">
              <a:off x="4038600" y="3429001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/>
          </p:nvCxnSpPr>
          <p:spPr>
            <a:xfrm rot="16200000" flipH="1">
              <a:off x="3886200" y="3200401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/>
          </p:nvCxnSpPr>
          <p:spPr>
            <a:xfrm rot="5400000">
              <a:off x="4000501" y="3238501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 rot="16200000" flipH="1">
              <a:off x="4572000" y="3200401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 rot="16200000" flipH="1">
              <a:off x="3733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/>
          </p:nvCxnSpPr>
          <p:spPr>
            <a:xfrm rot="5400000">
              <a:off x="36195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 rot="16200000" flipH="1">
              <a:off x="4214813" y="3252788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/>
          </p:nvCxnSpPr>
          <p:spPr>
            <a:xfrm rot="16200000" flipH="1">
              <a:off x="47510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 rot="16200000" flipH="1">
              <a:off x="43434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/>
          </p:nvCxnSpPr>
          <p:spPr>
            <a:xfrm rot="16200000" flipH="1">
              <a:off x="4572000" y="3352801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 rot="16200000" flipH="1">
              <a:off x="5257800" y="3352802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 rot="16200000" flipH="1">
              <a:off x="5067300" y="3238502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/>
          </p:nvCxnSpPr>
          <p:spPr>
            <a:xfrm rot="5400000">
              <a:off x="5219700" y="3238502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 rot="16200000" flipH="1">
              <a:off x="4876801" y="3352801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/>
          </p:nvCxnSpPr>
          <p:spPr>
            <a:xfrm rot="5400000">
              <a:off x="5527994" y="3318196"/>
              <a:ext cx="6888479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 rot="5400000">
              <a:off x="4850130" y="3227072"/>
              <a:ext cx="6858000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 rot="16200000" flipH="1">
              <a:off x="4751070" y="3326132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/>
          </p:nvCxnSpPr>
          <p:spPr>
            <a:xfrm rot="5400000">
              <a:off x="5562599" y="3429001"/>
              <a:ext cx="685800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rot="5400000">
              <a:off x="2552700" y="3390900"/>
              <a:ext cx="6858000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/>
            <p:nvPr/>
          </p:nvCxnSpPr>
          <p:spPr>
            <a:xfrm rot="16200000" flipH="1">
              <a:off x="3048000" y="3352800"/>
              <a:ext cx="6858000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 rot="16200000" flipH="1">
              <a:off x="3238500" y="3238500"/>
              <a:ext cx="6858000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 rot="5400000">
              <a:off x="2133600" y="3276600"/>
              <a:ext cx="6858000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 rot="16200000" flipH="1">
              <a:off x="3148013" y="3252789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rot="5400000">
              <a:off x="3771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 rot="5400000">
              <a:off x="4229100" y="2933700"/>
              <a:ext cx="6858000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/>
          </p:nvCxnSpPr>
          <p:spPr>
            <a:xfrm rot="16200000" flipH="1">
              <a:off x="1371600" y="3200403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0" y="1905000"/>
            <a:ext cx="4953000" cy="3124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0" y="2057400"/>
            <a:ext cx="4801394" cy="2820988"/>
            <a:chOff x="0" y="2057400"/>
            <a:chExt cx="4801394" cy="2820988"/>
          </a:xfrm>
        </p:grpSpPr>
        <p:cxnSp>
          <p:nvCxnSpPr>
            <p:cNvPr id="117" name="Straight Connector 116"/>
            <p:cNvCxnSpPr/>
            <p:nvPr/>
          </p:nvCxnSpPr>
          <p:spPr>
            <a:xfrm>
              <a:off x="0" y="20574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0" y="48768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rot="5400000">
              <a:off x="3391694" y="3467100"/>
              <a:ext cx="2818606" cy="794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130425"/>
            <a:ext cx="4419600" cy="1600327"/>
          </a:xfrm>
        </p:spPr>
        <p:txBody>
          <a:bodyPr anchor="b">
            <a:normAutofit/>
          </a:bodyPr>
          <a:lstStyle>
            <a:lvl1pPr algn="l">
              <a:defRPr sz="3600" b="1" cap="none" spc="40" baseline="0">
                <a:ln w="1333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733800"/>
            <a:ext cx="4419600" cy="1066800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2"/>
          <p:cNvGrpSpPr/>
          <p:nvPr/>
        </p:nvGrpSpPr>
        <p:grpSpPr>
          <a:xfrm>
            <a:off x="1" y="-30478"/>
            <a:ext cx="9067799" cy="4846320"/>
            <a:chOff x="1" y="-30477"/>
            <a:chExt cx="9067799" cy="4526277"/>
          </a:xfrm>
        </p:grpSpPr>
        <p:cxnSp>
          <p:nvCxnSpPr>
            <p:cNvPr id="8" name="Straight Connector 7"/>
            <p:cNvCxnSpPr/>
            <p:nvPr/>
          </p:nvCxnSpPr>
          <p:spPr>
            <a:xfrm rot="16200000" flipH="1">
              <a:off x="-2716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6200000" flipH="1">
              <a:off x="-4621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>
              <a:off x="-3097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>
              <a:off x="-206236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H="1">
              <a:off x="-213856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6200000" flipH="1">
              <a:off x="-195465" y="1785212"/>
              <a:ext cx="4505731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6200000" flipH="1">
              <a:off x="-164326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>
              <a:off x="-1528964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H="1">
              <a:off x="-95746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6200000" flipH="1">
              <a:off x="-194806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6200000" flipH="1">
              <a:off x="-652664" y="2166211"/>
              <a:ext cx="4505731" cy="152401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16200000" flipH="1">
              <a:off x="-16432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H="1">
              <a:off x="-1790700" y="2019300"/>
              <a:ext cx="4495800" cy="4572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>
              <a:off x="-55551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>
              <a:off x="340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26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5400000">
              <a:off x="-67933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16200000" flipH="1">
              <a:off x="-1467052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-77839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16200000" flipH="1">
              <a:off x="-11860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16200000" flipH="1">
              <a:off x="-9574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16200000" flipH="1">
              <a:off x="22429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6200000" flipH="1">
              <a:off x="20524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2204835" y="2051912"/>
              <a:ext cx="4505731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52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16200000" flipH="1">
              <a:off x="37603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1023735" y="2242139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16200000" flipH="1">
              <a:off x="871335" y="2013812"/>
              <a:ext cx="4505731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985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55713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16200000" flipH="1">
              <a:off x="5665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6200000" flipH="1">
              <a:off x="1861936" y="2166211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6200000" flipH="1">
              <a:off x="8713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1474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195909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25486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27763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83526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16200000" flipH="1">
              <a:off x="1047548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16200000" flipH="1">
              <a:off x="1736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1328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16200000" flipH="1">
              <a:off x="1557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16200000" flipH="1">
              <a:off x="39193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16200000" flipH="1">
              <a:off x="3271636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8812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004936" y="2090012"/>
              <a:ext cx="4505730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16200000" flipH="1">
              <a:off x="22429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16200000" flipH="1">
              <a:off x="35383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382218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4225087" y="2090965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407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356500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16200000" flipH="1">
              <a:off x="34126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16200000" flipH="1">
              <a:off x="29287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16200000" flipH="1">
              <a:off x="3081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4643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16200000" flipH="1">
              <a:off x="4643234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5214735" y="2242140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16200000" flipH="1">
              <a:off x="506233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5176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16200000" flipH="1">
              <a:off x="57481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16200000" flipH="1">
              <a:off x="49099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47956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16200000" flipH="1">
              <a:off x="53909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16200000" flipH="1">
              <a:off x="5927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rot="16200000" flipH="1">
              <a:off x="5519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rot="16200000" flipH="1">
              <a:off x="5748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rot="16200000" flipH="1">
              <a:off x="6433935" y="2166213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16200000" flipH="1">
              <a:off x="62434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rot="5400000">
              <a:off x="63958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rot="16200000" flipH="1">
              <a:off x="60529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>
              <a:off x="6709356" y="2136834"/>
              <a:ext cx="4525755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>
              <a:off x="6026265" y="2040483"/>
              <a:ext cx="4505731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5927205" y="2139543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5400000">
              <a:off x="6738734" y="2242140"/>
              <a:ext cx="450573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rot="5400000">
              <a:off x="3728835" y="2204312"/>
              <a:ext cx="4505731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rot="16200000" flipH="1">
              <a:off x="4224135" y="2166212"/>
              <a:ext cx="4505731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rot="16200000" flipH="1">
              <a:off x="4414635" y="2051912"/>
              <a:ext cx="4505731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rot="5400000">
              <a:off x="3309735" y="2090012"/>
              <a:ext cx="4505731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rot="16200000" flipH="1">
              <a:off x="43241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rot="5400000">
              <a:off x="49480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rot="5400000">
              <a:off x="5405235" y="1747112"/>
              <a:ext cx="4505731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rot="16200000" flipH="1">
              <a:off x="2547735" y="2013814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 93"/>
          <p:cNvSpPr/>
          <p:nvPr/>
        </p:nvSpPr>
        <p:spPr>
          <a:xfrm>
            <a:off x="0" y="4311168"/>
            <a:ext cx="9144000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96" name="Straight Connector 95"/>
          <p:cNvCxnSpPr/>
          <p:nvPr/>
        </p:nvCxnSpPr>
        <p:spPr>
          <a:xfrm>
            <a:off x="0" y="4387368"/>
            <a:ext cx="914400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0" y="6138380"/>
            <a:ext cx="914400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621364"/>
            <a:ext cx="8305800" cy="414649"/>
          </a:xfrm>
        </p:spPr>
        <p:txBody>
          <a:bodyPr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5" name="Title 94"/>
          <p:cNvSpPr>
            <a:spLocks noGrp="1"/>
          </p:cNvSpPr>
          <p:nvPr>
            <p:ph type="title"/>
          </p:nvPr>
        </p:nvSpPr>
        <p:spPr>
          <a:xfrm>
            <a:off x="457200" y="4463568"/>
            <a:ext cx="8305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91" name="Footer Placeholder 9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2" name="Slide Number Placeholder 9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0" y="273050"/>
            <a:ext cx="5486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0" y="1563624"/>
            <a:ext cx="2761488" cy="33131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rot="5400000">
            <a:off x="1128157" y="3221339"/>
            <a:ext cx="3017520" cy="79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0" y="1712976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0" y="4733544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901952"/>
            <a:ext cx="2377440" cy="1371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tabLst>
                <a:tab pos="3830638" algn="l"/>
              </a:tabLst>
              <a:defRPr lang="en-US" sz="2600" b="1" kern="1200" cap="none" spc="20" baseline="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" y="3273552"/>
            <a:ext cx="2377440" cy="1371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00400" y="381000"/>
            <a:ext cx="5562600" cy="5638800"/>
          </a:xfrm>
          <a:solidFill>
            <a:schemeClr val="bg2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0" y="1563624"/>
            <a:ext cx="2761488" cy="33131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1128157" y="3221339"/>
            <a:ext cx="3017520" cy="79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0" y="1712976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0" y="4733544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" y="1905000"/>
            <a:ext cx="2377440" cy="1371600"/>
          </a:xfrm>
        </p:spPr>
        <p:txBody>
          <a:bodyPr anchor="b">
            <a:normAutofit/>
          </a:bodyPr>
          <a:lstStyle>
            <a:lvl1pPr algn="l">
              <a:defRPr sz="2600" b="1" cap="none" spc="20" baseline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" y="3276600"/>
            <a:ext cx="2377440" cy="1371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89"/>
          <p:cNvSpPr/>
          <p:nvPr/>
        </p:nvSpPr>
        <p:spPr>
          <a:xfrm>
            <a:off x="149352" y="137160"/>
            <a:ext cx="8869680" cy="6583680"/>
          </a:xfrm>
          <a:prstGeom prst="rect">
            <a:avLst/>
          </a:prstGeom>
          <a:noFill/>
          <a:ln w="19050" cmpd="sng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1240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496BA19-2CC8-46AA-AB2D-A1E0F1B340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31123" y="6312408"/>
            <a:ext cx="34817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1240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3C49F48A-774C-4B55-BD4F-3843A5A273F1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spcBef>
          <a:spcPct val="0"/>
        </a:spcBef>
        <a:buNone/>
        <a:tabLst>
          <a:tab pos="3830638" algn="l"/>
        </a:tabLst>
        <a:defRPr sz="3600" b="1" kern="1200" cap="none" spc="50">
          <a:ln w="13335" cmpd="sng">
            <a:solidFill>
              <a:schemeClr val="accent1">
                <a:lumMod val="50000"/>
              </a:schemeClr>
            </a:solidFill>
            <a:prstDash val="solid"/>
          </a:ln>
          <a:solidFill>
            <a:schemeClr val="accent6">
              <a:tint val="1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8872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r-Latn-ME" dirty="0" smtClean="0"/>
              <a:t>Minimum sorting by reversals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ME" dirty="0" smtClean="0"/>
              <a:t>Matija Đorđević 59/2022</a:t>
            </a:r>
          </a:p>
          <a:p>
            <a:r>
              <a:rPr lang="sr-Latn-ME" dirty="0" smtClean="0"/>
              <a:t>Filip Nedeljković 43/2022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59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Definicije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Neka</a:t>
            </a:r>
            <a:r>
              <a:rPr lang="en-US" dirty="0"/>
              <a:t> je </a:t>
            </a:r>
            <a:r>
              <a:rPr lang="en-US" dirty="0" smtClean="0"/>
              <a:t>n element N</a:t>
            </a:r>
            <a:r>
              <a:rPr lang="en-US" dirty="0"/>
              <a:t>. </a:t>
            </a:r>
            <a:r>
              <a:rPr lang="en-US" dirty="0" err="1"/>
              <a:t>Permutacija</a:t>
            </a:r>
            <a:r>
              <a:rPr lang="en-US" dirty="0"/>
              <a:t> </a:t>
            </a:r>
            <a:r>
              <a:rPr lang="en-US" dirty="0" err="1"/>
              <a:t>skupa</a:t>
            </a:r>
            <a:r>
              <a:rPr lang="en-US" dirty="0"/>
              <a:t> {1,2,...,n} je </a:t>
            </a:r>
            <a:r>
              <a:rPr lang="en-US" dirty="0" err="1"/>
              <a:t>bijetkivno</a:t>
            </a:r>
            <a:r>
              <a:rPr lang="en-US" dirty="0"/>
              <a:t> </a:t>
            </a:r>
            <a:r>
              <a:rPr lang="en-US" dirty="0" err="1"/>
              <a:t>preslikavanje</a:t>
            </a:r>
            <a:r>
              <a:rPr lang="en-US" dirty="0"/>
              <a:t>  </a:t>
            </a:r>
            <a:r>
              <a:rPr lang="en-US" dirty="0" smtClean="0"/>
              <a:t>P:{</a:t>
            </a:r>
            <a:r>
              <a:rPr lang="en-US" dirty="0"/>
              <a:t>1,2,...,n</a:t>
            </a:r>
            <a:r>
              <a:rPr lang="en-US" dirty="0" smtClean="0"/>
              <a:t>} --&gt; {</a:t>
            </a:r>
            <a:r>
              <a:rPr lang="en-US" dirty="0"/>
              <a:t>1,2,...,n} </a:t>
            </a:r>
            <a:r>
              <a:rPr lang="en-US" dirty="0" err="1"/>
              <a:t>koje</a:t>
            </a:r>
            <a:r>
              <a:rPr lang="en-US" dirty="0"/>
              <a:t> se </a:t>
            </a:r>
            <a:r>
              <a:rPr lang="en-US" dirty="0" err="1"/>
              <a:t>zapisauje</a:t>
            </a:r>
            <a:r>
              <a:rPr lang="en-US" dirty="0"/>
              <a:t> u </a:t>
            </a:r>
            <a:r>
              <a:rPr lang="en-US" dirty="0" err="1"/>
              <a:t>obliku</a:t>
            </a:r>
            <a:r>
              <a:rPr lang="en-US" dirty="0"/>
              <a:t>: </a:t>
            </a:r>
            <a:r>
              <a:rPr lang="en-US" dirty="0" smtClean="0"/>
              <a:t>P: (</a:t>
            </a:r>
            <a:r>
              <a:rPr lang="en-US" dirty="0"/>
              <a:t>1, 2, </a:t>
            </a:r>
            <a:r>
              <a:rPr lang="en-US" dirty="0" smtClean="0"/>
              <a:t>..., n</a:t>
            </a:r>
            <a:r>
              <a:rPr lang="en-US" dirty="0"/>
              <a:t>) </a:t>
            </a:r>
            <a:r>
              <a:rPr lang="en-US" dirty="0" err="1"/>
              <a:t>gde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svi</a:t>
            </a:r>
            <a:r>
              <a:rPr lang="en-US" dirty="0"/>
              <a:t> </a:t>
            </a:r>
            <a:r>
              <a:rPr lang="en-US" dirty="0" err="1"/>
              <a:t>elementi</a:t>
            </a:r>
            <a:r>
              <a:rPr lang="en-US" dirty="0"/>
              <a:t> </a:t>
            </a:r>
            <a:r>
              <a:rPr lang="en-US" dirty="0" err="1"/>
              <a:t>različiti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raspored</a:t>
            </a:r>
            <a:r>
              <a:rPr lang="en-US" dirty="0"/>
              <a:t> </a:t>
            </a:r>
            <a:r>
              <a:rPr lang="en-US" dirty="0" err="1"/>
              <a:t>brojeva</a:t>
            </a:r>
            <a:r>
              <a:rPr lang="en-US" dirty="0"/>
              <a:t> od 1 do n. </a:t>
            </a:r>
            <a:r>
              <a:rPr lang="en-US" dirty="0" err="1"/>
              <a:t>Identična</a:t>
            </a:r>
            <a:r>
              <a:rPr lang="en-US" dirty="0"/>
              <a:t> (</a:t>
            </a:r>
            <a:r>
              <a:rPr lang="en-US" dirty="0" err="1"/>
              <a:t>sortirana</a:t>
            </a:r>
            <a:r>
              <a:rPr lang="en-US" dirty="0"/>
              <a:t>) </a:t>
            </a:r>
            <a:r>
              <a:rPr lang="en-US" dirty="0" err="1"/>
              <a:t>permutacija</a:t>
            </a:r>
            <a:r>
              <a:rPr lang="en-US" dirty="0"/>
              <a:t> se </a:t>
            </a:r>
            <a:r>
              <a:rPr lang="en-US" dirty="0" err="1" smtClean="0"/>
              <a:t>označava</a:t>
            </a:r>
            <a:r>
              <a:rPr lang="en-US" dirty="0" smtClean="0"/>
              <a:t> </a:t>
            </a:r>
            <a:r>
              <a:rPr lang="en-US" dirty="0" err="1"/>
              <a:t>kao</a:t>
            </a:r>
            <a:r>
              <a:rPr lang="en-US" dirty="0"/>
              <a:t> id:(1, 2, ..., n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pl-PL" dirty="0"/>
              <a:t>Za interval [</a:t>
            </a:r>
            <a:r>
              <a:rPr lang="pl-PL" dirty="0" smtClean="0"/>
              <a:t>i,</a:t>
            </a:r>
            <a:r>
              <a:rPr lang="en-US" dirty="0" smtClean="0"/>
              <a:t>k</a:t>
            </a:r>
            <a:r>
              <a:rPr lang="pl-PL" dirty="0" smtClean="0"/>
              <a:t>] </a:t>
            </a:r>
            <a:r>
              <a:rPr lang="pl-PL" dirty="0"/>
              <a:t>obrtaj predstavlja </a:t>
            </a:r>
            <a:r>
              <a:rPr lang="pl-PL" dirty="0" smtClean="0"/>
              <a:t>permutaciju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P</a:t>
            </a:r>
            <a:r>
              <a:rPr lang="pl-PL" dirty="0" smtClean="0"/>
              <a:t>:(</a:t>
            </a:r>
            <a:r>
              <a:rPr lang="pl-PL" dirty="0"/>
              <a:t>1,2, ..., i-1, </a:t>
            </a:r>
            <a:r>
              <a:rPr lang="en-US" dirty="0" smtClean="0"/>
              <a:t>k</a:t>
            </a:r>
            <a:r>
              <a:rPr lang="pl-PL" dirty="0" smtClean="0"/>
              <a:t>, </a:t>
            </a:r>
            <a:r>
              <a:rPr lang="en-US" dirty="0"/>
              <a:t>k</a:t>
            </a:r>
            <a:r>
              <a:rPr lang="pl-PL" dirty="0" smtClean="0"/>
              <a:t>-1</a:t>
            </a:r>
            <a:r>
              <a:rPr lang="pl-PL" dirty="0"/>
              <a:t>, ...,i+1, i, </a:t>
            </a:r>
            <a:r>
              <a:rPr lang="en-US" dirty="0" smtClean="0"/>
              <a:t>k</a:t>
            </a:r>
            <a:r>
              <a:rPr lang="pl-PL" dirty="0" smtClean="0"/>
              <a:t>+1</a:t>
            </a:r>
            <a:r>
              <a:rPr lang="pl-PL" dirty="0"/>
              <a:t>, ..., 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875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Formulacija problema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</a:t>
            </a:r>
            <a:r>
              <a:rPr lang="en-US" dirty="0" err="1"/>
              <a:t>minimalnog</a:t>
            </a:r>
            <a:r>
              <a:rPr lang="en-US" dirty="0"/>
              <a:t> </a:t>
            </a:r>
            <a:r>
              <a:rPr lang="en-US" dirty="0" err="1"/>
              <a:t>sortiranja</a:t>
            </a:r>
            <a:r>
              <a:rPr lang="en-US" dirty="0"/>
              <a:t> </a:t>
            </a:r>
            <a:r>
              <a:rPr lang="en-US" dirty="0" err="1"/>
              <a:t>obrtajima</a:t>
            </a:r>
            <a:r>
              <a:rPr lang="en-US" dirty="0"/>
              <a:t> (Minimum sorting by reversals)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datu</a:t>
            </a:r>
            <a:r>
              <a:rPr lang="en-US" dirty="0"/>
              <a:t> </a:t>
            </a:r>
            <a:r>
              <a:rPr lang="en-US" dirty="0" err="1"/>
              <a:t>permutaciju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pronalaženje</a:t>
            </a:r>
            <a:r>
              <a:rPr lang="en-US" dirty="0"/>
              <a:t> </a:t>
            </a:r>
            <a:r>
              <a:rPr lang="en-US" dirty="0" err="1"/>
              <a:t>najmanjeg</a:t>
            </a:r>
            <a:r>
              <a:rPr lang="en-US" dirty="0"/>
              <a:t>  </a:t>
            </a:r>
            <a:r>
              <a:rPr lang="en-US" dirty="0" err="1"/>
              <a:t>niza</a:t>
            </a:r>
            <a:r>
              <a:rPr lang="en-US" dirty="0"/>
              <a:t> </a:t>
            </a:r>
            <a:r>
              <a:rPr lang="en-US" dirty="0" err="1"/>
              <a:t>obrtaja</a:t>
            </a:r>
            <a:r>
              <a:rPr lang="en-US" dirty="0"/>
              <a:t>  </a:t>
            </a:r>
            <a:r>
              <a:rPr lang="en-US" dirty="0" smtClean="0"/>
              <a:t>L1 … </a:t>
            </a:r>
            <a:r>
              <a:rPr lang="en-US" dirty="0"/>
              <a:t>L</a:t>
            </a:r>
            <a:r>
              <a:rPr lang="en-US" dirty="0" smtClean="0"/>
              <a:t>n </a:t>
            </a:r>
            <a:r>
              <a:rPr lang="en-US" dirty="0" err="1" smtClean="0"/>
              <a:t>takvog</a:t>
            </a:r>
            <a:r>
              <a:rPr lang="en-US" dirty="0" smtClean="0"/>
              <a:t> </a:t>
            </a:r>
            <a:r>
              <a:rPr lang="en-US" dirty="0"/>
              <a:t>da </a:t>
            </a:r>
            <a:r>
              <a:rPr lang="en-US" dirty="0" err="1"/>
              <a:t>važi</a:t>
            </a:r>
            <a:r>
              <a:rPr lang="en-US" dirty="0"/>
              <a:t> </a:t>
            </a:r>
            <a:r>
              <a:rPr lang="en-US" dirty="0" smtClean="0"/>
              <a:t>P * L1 * … * Ln </a:t>
            </a:r>
            <a:r>
              <a:rPr lang="en-US" dirty="0"/>
              <a:t>= id. </a:t>
            </a:r>
            <a:r>
              <a:rPr lang="en-US" dirty="0" err="1"/>
              <a:t>Veličina</a:t>
            </a:r>
            <a:r>
              <a:rPr lang="en-US" dirty="0"/>
              <a:t> tog </a:t>
            </a:r>
            <a:r>
              <a:rPr lang="en-US" dirty="0" err="1"/>
              <a:t>niza</a:t>
            </a:r>
            <a:r>
              <a:rPr lang="en-US" dirty="0"/>
              <a:t> </a:t>
            </a:r>
            <a:r>
              <a:rPr lang="en-US" dirty="0" err="1"/>
              <a:t>obrataja</a:t>
            </a:r>
            <a:r>
              <a:rPr lang="en-US" dirty="0"/>
              <a:t> se </a:t>
            </a:r>
            <a:r>
              <a:rPr lang="en-US" dirty="0" err="1"/>
              <a:t>naziva</a:t>
            </a:r>
            <a:r>
              <a:rPr lang="en-US" dirty="0"/>
              <a:t> </a:t>
            </a:r>
            <a:r>
              <a:rPr lang="en-US" dirty="0" err="1"/>
              <a:t>obrtajna</a:t>
            </a:r>
            <a:r>
              <a:rPr lang="en-US" dirty="0"/>
              <a:t> </a:t>
            </a:r>
            <a:r>
              <a:rPr lang="en-US" dirty="0" err="1"/>
              <a:t>distanca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označava</a:t>
            </a:r>
            <a:r>
              <a:rPr lang="en-US" dirty="0"/>
              <a:t> se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smtClean="0"/>
              <a:t>d(P).</a:t>
            </a:r>
            <a:endParaRPr lang="en-US" dirty="0"/>
          </a:p>
          <a:p>
            <a:r>
              <a:rPr lang="en-US" dirty="0" err="1"/>
              <a:t>Neformalno</a:t>
            </a:r>
            <a:r>
              <a:rPr lang="en-US" dirty="0"/>
              <a:t> </a:t>
            </a:r>
            <a:r>
              <a:rPr lang="en-US" dirty="0" err="1"/>
              <a:t>neka</a:t>
            </a:r>
            <a:r>
              <a:rPr lang="en-US" dirty="0"/>
              <a:t> je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niz</a:t>
            </a:r>
            <a:r>
              <a:rPr lang="en-US" dirty="0"/>
              <a:t> </a:t>
            </a:r>
            <a:r>
              <a:rPr lang="en-US" dirty="0" err="1"/>
              <a:t>brojeva</a:t>
            </a:r>
            <a:r>
              <a:rPr lang="en-US" dirty="0"/>
              <a:t> od 1 do n </a:t>
            </a:r>
            <a:r>
              <a:rPr lang="en-US" dirty="0" err="1"/>
              <a:t>takav</a:t>
            </a:r>
            <a:r>
              <a:rPr lang="en-US" dirty="0"/>
              <a:t> da se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pojavljuje</a:t>
            </a:r>
            <a:r>
              <a:rPr lang="en-US" dirty="0"/>
              <a:t> </a:t>
            </a:r>
            <a:r>
              <a:rPr lang="en-US" dirty="0" err="1"/>
              <a:t>tačno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. </a:t>
            </a:r>
            <a:r>
              <a:rPr lang="en-US" dirty="0" err="1"/>
              <a:t>Potrebno</a:t>
            </a:r>
            <a:r>
              <a:rPr lang="en-US" dirty="0"/>
              <a:t> je </a:t>
            </a:r>
            <a:r>
              <a:rPr lang="en-US" dirty="0" err="1"/>
              <a:t>pronaći</a:t>
            </a:r>
            <a:r>
              <a:rPr lang="en-US" dirty="0"/>
              <a:t> </a:t>
            </a:r>
            <a:r>
              <a:rPr lang="en-US" dirty="0" err="1"/>
              <a:t>minimalni</a:t>
            </a:r>
            <a:r>
              <a:rPr lang="en-US" dirty="0"/>
              <a:t> </a:t>
            </a:r>
            <a:r>
              <a:rPr lang="en-US" dirty="0" err="1"/>
              <a:t>niz</a:t>
            </a:r>
            <a:r>
              <a:rPr lang="en-US" dirty="0"/>
              <a:t> </a:t>
            </a:r>
            <a:r>
              <a:rPr lang="en-US" dirty="0" err="1"/>
              <a:t>obrtaja</a:t>
            </a:r>
            <a:r>
              <a:rPr lang="en-US" dirty="0"/>
              <a:t> </a:t>
            </a:r>
            <a:r>
              <a:rPr lang="en-US" dirty="0" err="1"/>
              <a:t>takav</a:t>
            </a:r>
            <a:r>
              <a:rPr lang="en-US" dirty="0"/>
              <a:t> da </a:t>
            </a:r>
            <a:r>
              <a:rPr lang="en-US" dirty="0" err="1"/>
              <a:t>početni</a:t>
            </a:r>
            <a:r>
              <a:rPr lang="en-US" dirty="0"/>
              <a:t> </a:t>
            </a:r>
            <a:r>
              <a:rPr lang="en-US" dirty="0" err="1"/>
              <a:t>niz</a:t>
            </a:r>
            <a:r>
              <a:rPr lang="en-US" dirty="0"/>
              <a:t>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sortiran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73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Implementirani algoritmi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r-Latn-ME" dirty="0" smtClean="0"/>
              <a:t>Algoritam grube sile (BFS)</a:t>
            </a:r>
          </a:p>
          <a:p>
            <a:pPr marL="457200" indent="-457200">
              <a:buFont typeface="+mj-lt"/>
              <a:buAutoNum type="arabicPeriod"/>
            </a:pPr>
            <a:r>
              <a:rPr lang="sr-Latn-ME" dirty="0" smtClean="0"/>
              <a:t>Pohlepni algoritam</a:t>
            </a:r>
          </a:p>
          <a:p>
            <a:pPr marL="457200" indent="-457200">
              <a:buFont typeface="+mj-lt"/>
              <a:buAutoNum type="arabicPeriod"/>
            </a:pPr>
            <a:r>
              <a:rPr lang="sr-Latn-ME" dirty="0" smtClean="0"/>
              <a:t>Algoritam grananja i odsecanja</a:t>
            </a:r>
          </a:p>
          <a:p>
            <a:pPr marL="457200" indent="-457200">
              <a:buFont typeface="+mj-lt"/>
              <a:buAutoNum type="arabicPeriod"/>
            </a:pPr>
            <a:r>
              <a:rPr lang="sr-Latn-ME" dirty="0" smtClean="0"/>
              <a:t>Algoritam promenljive okoline (VNS)</a:t>
            </a:r>
          </a:p>
          <a:p>
            <a:pPr marL="457200" indent="-457200">
              <a:buFont typeface="+mj-lt"/>
              <a:buAutoNum type="arabicPeriod"/>
            </a:pPr>
            <a:r>
              <a:rPr lang="sr-Latn-ME" dirty="0" smtClean="0"/>
              <a:t>Genetski algoirtam</a:t>
            </a:r>
          </a:p>
        </p:txBody>
      </p:sp>
    </p:spTree>
    <p:extLst>
      <p:ext uri="{BB962C8B-B14F-4D97-AF65-F5344CB8AC3E}">
        <p14:creationId xmlns:p14="http://schemas.microsoft.com/office/powerpoint/2010/main" val="293410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ME" dirty="0"/>
              <a:t>Algoritam grube sile (BFS</a:t>
            </a:r>
            <a:r>
              <a:rPr lang="sr-Latn-ME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ME" dirty="0" smtClean="0"/>
              <a:t>Koristimo klasičan algoritam bfs. Implemntiran pomoću </a:t>
            </a:r>
            <a:r>
              <a:rPr lang="sr-Latn-ME" dirty="0" smtClean="0"/>
              <a:t>reda</a:t>
            </a:r>
            <a:r>
              <a:rPr lang="en-US" dirty="0" smtClean="0"/>
              <a:t>.</a:t>
            </a:r>
            <a:endParaRPr lang="en-US" dirty="0" smtClean="0"/>
          </a:p>
          <a:p>
            <a:endParaRPr lang="sr-Latn-ME" dirty="0" smtClean="0"/>
          </a:p>
          <a:p>
            <a:r>
              <a:rPr lang="en-US" dirty="0" err="1" smtClean="0"/>
              <a:t>Vremenska</a:t>
            </a:r>
            <a:r>
              <a:rPr lang="en-US" dirty="0" smtClean="0"/>
              <a:t> s</a:t>
            </a:r>
            <a:r>
              <a:rPr lang="sr-Latn-ME" dirty="0" smtClean="0"/>
              <a:t>loženost algoritam je </a:t>
            </a:r>
            <a:r>
              <a:rPr lang="en-US" dirty="0" smtClean="0"/>
              <a:t>O(n^2 * n!)</a:t>
            </a:r>
          </a:p>
          <a:p>
            <a:endParaRPr lang="en-US" dirty="0" smtClean="0"/>
          </a:p>
          <a:p>
            <a:r>
              <a:rPr lang="en-US" dirty="0" err="1" smtClean="0"/>
              <a:t>Prostorna</a:t>
            </a:r>
            <a:r>
              <a:rPr lang="en-US" dirty="0" smtClean="0"/>
              <a:t> s</a:t>
            </a:r>
            <a:r>
              <a:rPr lang="sr-Latn-ME" dirty="0" smtClean="0"/>
              <a:t>loženost </a:t>
            </a:r>
            <a:r>
              <a:rPr lang="en-US" dirty="0" err="1" smtClean="0"/>
              <a:t>algoritma</a:t>
            </a:r>
            <a:r>
              <a:rPr lang="en-US" dirty="0" smtClean="0"/>
              <a:t> je O(n</a:t>
            </a:r>
            <a:r>
              <a:rPr lang="en-US" dirty="0"/>
              <a:t>!)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81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</a:t>
            </a:r>
            <a:r>
              <a:rPr lang="sr-Latn-ME" dirty="0" smtClean="0"/>
              <a:t>čke prekida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dirty="0"/>
              <a:t>Tačka prekida predstavlja mesto u permutaciji gde se narušava očekivani redosled elemenata. Intuitivno, ona označava prekid monotonog segmenta permutacije.</a:t>
            </a:r>
          </a:p>
          <a:p>
            <a:r>
              <a:rPr lang="vi-VN" dirty="0"/>
              <a:t>Formalnije, neka je data permutacija </a:t>
            </a:r>
            <a:r>
              <a:rPr lang="sr-Latn-ME" dirty="0" smtClean="0"/>
              <a:t>P</a:t>
            </a:r>
            <a:r>
              <a:rPr lang="vi-VN" dirty="0" smtClean="0"/>
              <a:t>:(</a:t>
            </a:r>
            <a:r>
              <a:rPr lang="vi-VN" dirty="0"/>
              <a:t>1, 2, ...,n). Proširimo permutaciju dodavanjem graničnih elemenata: </a:t>
            </a:r>
            <a:r>
              <a:rPr lang="sr-Latn-ME" dirty="0" smtClean="0"/>
              <a:t>PP</a:t>
            </a:r>
            <a:r>
              <a:rPr lang="vi-VN" dirty="0" smtClean="0"/>
              <a:t>:(</a:t>
            </a:r>
            <a:r>
              <a:rPr lang="sr-Latn-ME" dirty="0" smtClean="0"/>
              <a:t>P</a:t>
            </a:r>
            <a:r>
              <a:rPr lang="sr-Latn-ME" dirty="0"/>
              <a:t>0</a:t>
            </a:r>
            <a:r>
              <a:rPr lang="vi-VN" dirty="0" smtClean="0"/>
              <a:t> ,</a:t>
            </a:r>
            <a:r>
              <a:rPr lang="sr-Latn-ME" dirty="0"/>
              <a:t>P</a:t>
            </a:r>
            <a:r>
              <a:rPr lang="sr-Latn-ME" dirty="0" smtClean="0"/>
              <a:t>1</a:t>
            </a:r>
            <a:r>
              <a:rPr lang="vi-VN" dirty="0" smtClean="0"/>
              <a:t>, </a:t>
            </a:r>
            <a:r>
              <a:rPr lang="sr-Latn-ME" dirty="0" smtClean="0"/>
              <a:t>P</a:t>
            </a:r>
            <a:r>
              <a:rPr lang="sr-Latn-ME" dirty="0"/>
              <a:t>2</a:t>
            </a:r>
            <a:r>
              <a:rPr lang="vi-VN" dirty="0" smtClean="0"/>
              <a:t>, ...,</a:t>
            </a:r>
            <a:r>
              <a:rPr lang="sr-Latn-ME" dirty="0" smtClean="0"/>
              <a:t>Pn</a:t>
            </a:r>
            <a:r>
              <a:rPr lang="vi-VN" dirty="0" smtClean="0"/>
              <a:t>, </a:t>
            </a:r>
            <a:r>
              <a:rPr lang="sr-Latn-ME" dirty="0" smtClean="0"/>
              <a:t>Pn+1</a:t>
            </a:r>
            <a:r>
              <a:rPr lang="vi-VN" dirty="0" smtClean="0"/>
              <a:t>). </a:t>
            </a:r>
            <a:r>
              <a:rPr lang="vi-VN" dirty="0"/>
              <a:t>Par susednih elemenata </a:t>
            </a:r>
            <a:r>
              <a:rPr lang="sr-Latn-ME" dirty="0"/>
              <a:t/>
            </a:r>
            <a:br>
              <a:rPr lang="sr-Latn-ME" dirty="0"/>
            </a:br>
            <a:r>
              <a:rPr lang="vi-VN" dirty="0" smtClean="0"/>
              <a:t>(</a:t>
            </a:r>
            <a:r>
              <a:rPr lang="sr-Latn-ME" dirty="0" smtClean="0"/>
              <a:t>P</a:t>
            </a:r>
            <a:r>
              <a:rPr lang="sr-Latn-ME" dirty="0"/>
              <a:t>i</a:t>
            </a:r>
            <a:r>
              <a:rPr lang="vi-VN" dirty="0" smtClean="0"/>
              <a:t>, </a:t>
            </a:r>
            <a:r>
              <a:rPr lang="sr-Latn-ME" dirty="0" smtClean="0"/>
              <a:t>Pi+1</a:t>
            </a:r>
            <a:r>
              <a:rPr lang="vi-VN" dirty="0" smtClean="0"/>
              <a:t>) </a:t>
            </a:r>
            <a:r>
              <a:rPr lang="vi-VN" dirty="0"/>
              <a:t>predstavlja tačku prekida ukoliko </a:t>
            </a:r>
            <a:r>
              <a:rPr lang="vi-VN" dirty="0" smtClean="0"/>
              <a:t>važi:</a:t>
            </a:r>
            <a:r>
              <a:rPr lang="sr-Latn-ME" dirty="0" smtClean="0"/>
              <a:t/>
            </a:r>
            <a:br>
              <a:rPr lang="sr-Latn-ME" dirty="0" smtClean="0"/>
            </a:br>
            <a:r>
              <a:rPr lang="vi-VN" dirty="0" smtClean="0"/>
              <a:t> |</a:t>
            </a:r>
            <a:r>
              <a:rPr lang="sr-Latn-ME" dirty="0" smtClean="0"/>
              <a:t>Pi</a:t>
            </a:r>
            <a:r>
              <a:rPr lang="sr-Latn-ME" dirty="0"/>
              <a:t> </a:t>
            </a:r>
            <a:r>
              <a:rPr lang="vi-VN" dirty="0" smtClean="0"/>
              <a:t>–</a:t>
            </a:r>
            <a:r>
              <a:rPr lang="sr-Latn-ME" dirty="0" smtClean="0"/>
              <a:t> Pi+1</a:t>
            </a:r>
            <a:r>
              <a:rPr lang="vi-VN" dirty="0" smtClean="0"/>
              <a:t>|</a:t>
            </a:r>
            <a:r>
              <a:rPr lang="sr-Latn-ME" dirty="0" smtClean="0"/>
              <a:t> </a:t>
            </a:r>
            <a:r>
              <a:rPr lang="sr-Latn-ME" b="1" dirty="0" smtClean="0"/>
              <a:t>različito od </a:t>
            </a:r>
            <a:r>
              <a:rPr lang="en-US" dirty="0"/>
              <a:t> </a:t>
            </a:r>
            <a:r>
              <a:rPr lang="vi-VN" dirty="0" smtClean="0"/>
              <a:t>1</a:t>
            </a:r>
            <a:r>
              <a:rPr lang="vi-VN" dirty="0"/>
              <a:t>.</a:t>
            </a:r>
          </a:p>
          <a:p>
            <a:r>
              <a:rPr lang="vi-VN" dirty="0"/>
              <a:t>Drugim rečima, ako dva uzastopna </a:t>
            </a:r>
            <a:r>
              <a:rPr lang="vi-VN" dirty="0" smtClean="0"/>
              <a:t>elementa </a:t>
            </a:r>
            <a:r>
              <a:rPr lang="vi-VN" dirty="0"/>
              <a:t>ne predstavljaju uzastopne brojeve u prirodnom poretku, između njih postoji tačka prekida.</a:t>
            </a:r>
          </a:p>
          <a:p>
            <a:pPr marL="0" indent="0">
              <a:buNone/>
            </a:pPr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64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ME" dirty="0"/>
              <a:t>Pohlepni </a:t>
            </a:r>
            <a:r>
              <a:rPr lang="sr-Latn-ME" dirty="0" smtClean="0"/>
              <a:t>algoritam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ME" dirty="0" smtClean="0"/>
              <a:t>Ideja je da u svakom koraku smanjujemo maksimalno što možemo broj tački prekida.</a:t>
            </a:r>
          </a:p>
          <a:p>
            <a:endParaRPr lang="sr-Latn-ME" dirty="0"/>
          </a:p>
          <a:p>
            <a:r>
              <a:rPr lang="sr-Latn-ME" dirty="0" smtClean="0"/>
              <a:t>Razlog je zato što sortirana permutacija nema tačke prekida.</a:t>
            </a:r>
          </a:p>
          <a:p>
            <a:endParaRPr lang="sr-Latn-ME" dirty="0" smtClean="0"/>
          </a:p>
          <a:p>
            <a:r>
              <a:rPr lang="sr-Latn-ME" dirty="0" smtClean="0"/>
              <a:t>Maksimalno jednim obrtajem možemo otkloniti 2 tačke prekida.</a:t>
            </a:r>
          </a:p>
          <a:p>
            <a:endParaRPr lang="sr-Latn-ME" dirty="0" smtClean="0"/>
          </a:p>
          <a:p>
            <a:r>
              <a:rPr lang="sr-Latn-ME" dirty="0" smtClean="0"/>
              <a:t>Vremenska složenost algoritma je O(n</a:t>
            </a:r>
            <a:r>
              <a:rPr lang="en-US" dirty="0" smtClean="0"/>
              <a:t>^</a:t>
            </a:r>
            <a:r>
              <a:rPr lang="sr-Latn-ME" dirty="0" smtClean="0"/>
              <a:t>4)</a:t>
            </a:r>
          </a:p>
        </p:txBody>
      </p:sp>
    </p:spTree>
    <p:extLst>
      <p:ext uri="{BB962C8B-B14F-4D97-AF65-F5344CB8AC3E}">
        <p14:creationId xmlns:p14="http://schemas.microsoft.com/office/powerpoint/2010/main" val="1104794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ME" dirty="0"/>
              <a:t>Algoritam grananja i odsecanja</a:t>
            </a:r>
            <a:br>
              <a:rPr lang="sr-Latn-ME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Osnovna</a:t>
            </a:r>
            <a:r>
              <a:rPr lang="en-US" dirty="0" smtClean="0"/>
              <a:t> </a:t>
            </a:r>
            <a:r>
              <a:rPr lang="en-US" dirty="0" err="1"/>
              <a:t>ideja</a:t>
            </a:r>
            <a:r>
              <a:rPr lang="en-US" dirty="0"/>
              <a:t> </a:t>
            </a:r>
            <a:r>
              <a:rPr lang="en-US" dirty="0" err="1"/>
              <a:t>ovog</a:t>
            </a:r>
            <a:r>
              <a:rPr lang="en-US" dirty="0"/>
              <a:t> </a:t>
            </a:r>
            <a:r>
              <a:rPr lang="en-US" dirty="0" err="1"/>
              <a:t>pristupa</a:t>
            </a:r>
            <a:r>
              <a:rPr lang="en-US" dirty="0"/>
              <a:t> je </a:t>
            </a:r>
            <a:r>
              <a:rPr lang="en-US" dirty="0" err="1"/>
              <a:t>sistematsko</a:t>
            </a:r>
            <a:r>
              <a:rPr lang="en-US" dirty="0"/>
              <a:t> </a:t>
            </a:r>
            <a:r>
              <a:rPr lang="en-US" dirty="0" err="1"/>
              <a:t>pretraživanje</a:t>
            </a:r>
            <a:r>
              <a:rPr lang="en-US" dirty="0"/>
              <a:t> </a:t>
            </a:r>
            <a:r>
              <a:rPr lang="en-US" dirty="0" err="1"/>
              <a:t>prostora</a:t>
            </a:r>
            <a:r>
              <a:rPr lang="en-US" dirty="0"/>
              <a:t> </a:t>
            </a:r>
            <a:r>
              <a:rPr lang="en-US" dirty="0" err="1"/>
              <a:t>rešenja</a:t>
            </a:r>
            <a:r>
              <a:rPr lang="en-US" dirty="0"/>
              <a:t>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korišćenje</a:t>
            </a:r>
            <a:r>
              <a:rPr lang="en-US" dirty="0"/>
              <a:t> </a:t>
            </a:r>
            <a:r>
              <a:rPr lang="en-US" dirty="0" err="1"/>
              <a:t>gornjih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donjih</a:t>
            </a:r>
            <a:r>
              <a:rPr lang="en-US" dirty="0"/>
              <a:t> </a:t>
            </a:r>
            <a:r>
              <a:rPr lang="en-US" dirty="0" err="1"/>
              <a:t>ograničenja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bi se </a:t>
            </a:r>
            <a:r>
              <a:rPr lang="en-US" dirty="0" err="1"/>
              <a:t>nepotrebne</a:t>
            </a:r>
            <a:r>
              <a:rPr lang="en-US" dirty="0"/>
              <a:t> </a:t>
            </a:r>
            <a:r>
              <a:rPr lang="en-US" dirty="0" err="1"/>
              <a:t>grane</a:t>
            </a:r>
            <a:r>
              <a:rPr lang="en-US" dirty="0"/>
              <a:t> </a:t>
            </a:r>
            <a:r>
              <a:rPr lang="en-US" dirty="0" err="1"/>
              <a:t>pretrage</a:t>
            </a:r>
            <a:r>
              <a:rPr lang="en-US" dirty="0"/>
              <a:t> bile </a:t>
            </a:r>
            <a:r>
              <a:rPr lang="en-US" dirty="0" err="1"/>
              <a:t>eliminisane</a:t>
            </a:r>
            <a:r>
              <a:rPr lang="en-US" dirty="0" smtClean="0"/>
              <a:t>.</a:t>
            </a:r>
            <a:endParaRPr lang="sr-Latn-ME" dirty="0" smtClean="0"/>
          </a:p>
          <a:p>
            <a:r>
              <a:rPr lang="en-US" dirty="0" err="1"/>
              <a:t>Najpre</a:t>
            </a:r>
            <a:r>
              <a:rPr lang="en-US" dirty="0"/>
              <a:t> se </a:t>
            </a:r>
            <a:r>
              <a:rPr lang="en-US" dirty="0" err="1"/>
              <a:t>pomoću</a:t>
            </a:r>
            <a:r>
              <a:rPr lang="en-US" dirty="0"/>
              <a:t> </a:t>
            </a:r>
            <a:r>
              <a:rPr lang="en-US" dirty="0" err="1"/>
              <a:t>pohlepne</a:t>
            </a:r>
            <a:r>
              <a:rPr lang="en-US" dirty="0"/>
              <a:t> </a:t>
            </a:r>
            <a:r>
              <a:rPr lang="en-US" dirty="0" err="1"/>
              <a:t>heuristike</a:t>
            </a:r>
            <a:r>
              <a:rPr lang="en-US" dirty="0"/>
              <a:t> </a:t>
            </a:r>
            <a:r>
              <a:rPr lang="en-US" dirty="0" err="1"/>
              <a:t>izračunava</a:t>
            </a:r>
            <a:r>
              <a:rPr lang="en-US" dirty="0"/>
              <a:t> </a:t>
            </a:r>
            <a:r>
              <a:rPr lang="en-US" dirty="0" err="1"/>
              <a:t>gornja</a:t>
            </a:r>
            <a:r>
              <a:rPr lang="en-US" dirty="0"/>
              <a:t> </a:t>
            </a:r>
            <a:r>
              <a:rPr lang="en-US" dirty="0" err="1"/>
              <a:t>granica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 smtClean="0"/>
              <a:t>obrtaja</a:t>
            </a:r>
            <a:r>
              <a:rPr lang="en-US" dirty="0" smtClean="0"/>
              <a:t> </a:t>
            </a:r>
            <a:r>
              <a:rPr lang="en-US" dirty="0" err="1"/>
              <a:t>potrebnih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sortiranje</a:t>
            </a:r>
            <a:r>
              <a:rPr lang="en-US" dirty="0"/>
              <a:t> </a:t>
            </a:r>
            <a:r>
              <a:rPr lang="en-US" dirty="0" err="1"/>
              <a:t>permutacije</a:t>
            </a:r>
            <a:r>
              <a:rPr lang="en-US" dirty="0" smtClean="0"/>
              <a:t>.</a:t>
            </a:r>
            <a:endParaRPr lang="sr-Latn-ME" dirty="0" smtClean="0"/>
          </a:p>
          <a:p>
            <a:r>
              <a:rPr lang="sr-Latn-ME" dirty="0" smtClean="0"/>
              <a:t>Donje ogranicenje je broj tačaka_prekida / 2. Jer u svakom koraku najviše dve tačke prekida možemo otkloniti.</a:t>
            </a:r>
          </a:p>
          <a:p>
            <a:r>
              <a:rPr lang="sr-Latn-ME" dirty="0" smtClean="0"/>
              <a:t>Uslov odsecanja: </a:t>
            </a:r>
            <a:br>
              <a:rPr lang="sr-Latn-ME" dirty="0" smtClean="0"/>
            </a:br>
            <a:r>
              <a:rPr lang="sr-Latn-ME" dirty="0" smtClean="0"/>
              <a:t>donje_ogranicenje + trenutna_dubina &gt;= gornje_ogranicenje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12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Funkcija</a:t>
            </a:r>
            <a:r>
              <a:rPr lang="en-US" dirty="0" smtClean="0"/>
              <a:t> </a:t>
            </a:r>
            <a:r>
              <a:rPr lang="en-US" dirty="0" err="1" smtClean="0"/>
              <a:t>cilja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sr-Latn-ME" dirty="0"/>
          </a:p>
          <a:p>
            <a:r>
              <a:rPr lang="sr-Latn-ME" dirty="0" smtClean="0"/>
              <a:t>Fitness =  -100*num_of_breakpoints – num_of_reversals</a:t>
            </a:r>
          </a:p>
          <a:p>
            <a:endParaRPr lang="sr-Latn-ME" dirty="0" smtClean="0"/>
          </a:p>
          <a:p>
            <a:r>
              <a:rPr lang="sr-Latn-ME" dirty="0" smtClean="0"/>
              <a:t>Funkcija je negativna jer naredni algoritmi je maksimizuju</a:t>
            </a:r>
          </a:p>
          <a:p>
            <a:endParaRPr lang="sr-Latn-ME" dirty="0"/>
          </a:p>
          <a:p>
            <a:r>
              <a:rPr lang="en-US" dirty="0" err="1"/>
              <a:t>Računanje</a:t>
            </a:r>
            <a:r>
              <a:rPr lang="en-US" dirty="0"/>
              <a:t> </a:t>
            </a:r>
            <a:r>
              <a:rPr lang="en-US" dirty="0" err="1"/>
              <a:t>tačaka</a:t>
            </a:r>
            <a:r>
              <a:rPr lang="en-US" dirty="0"/>
              <a:t> </a:t>
            </a:r>
            <a:r>
              <a:rPr lang="en-US" dirty="0" err="1"/>
              <a:t>prekida</a:t>
            </a:r>
            <a:r>
              <a:rPr lang="en-US" dirty="0"/>
              <a:t> je </a:t>
            </a:r>
            <a:r>
              <a:rPr lang="en-US" dirty="0" err="1"/>
              <a:t>linearne</a:t>
            </a:r>
            <a:r>
              <a:rPr lang="en-US" dirty="0"/>
              <a:t> </a:t>
            </a:r>
            <a:r>
              <a:rPr lang="en-US" dirty="0" err="1"/>
              <a:t>složenosti</a:t>
            </a:r>
            <a:r>
              <a:rPr lang="en-US" dirty="0"/>
              <a:t> u </a:t>
            </a:r>
            <a:r>
              <a:rPr lang="en-US" dirty="0" err="1"/>
              <a:t>odnosu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veličinu</a:t>
            </a:r>
            <a:r>
              <a:rPr lang="en-US" dirty="0"/>
              <a:t> </a:t>
            </a:r>
            <a:r>
              <a:rPr lang="en-US" dirty="0" err="1"/>
              <a:t>permutacije</a:t>
            </a:r>
            <a:r>
              <a:rPr lang="en-US" dirty="0"/>
              <a:t> </a:t>
            </a:r>
            <a:r>
              <a:rPr lang="en-US" dirty="0" err="1"/>
              <a:t>jer</a:t>
            </a:r>
            <a:r>
              <a:rPr lang="en-US" dirty="0"/>
              <a:t> je </a:t>
            </a:r>
            <a:r>
              <a:rPr lang="en-US" dirty="0" err="1"/>
              <a:t>potrebno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proći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celu</a:t>
            </a:r>
            <a:r>
              <a:rPr lang="en-US" dirty="0"/>
              <a:t> </a:t>
            </a:r>
            <a:r>
              <a:rPr lang="en-US" dirty="0" err="1"/>
              <a:t>permutaciju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7294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ME" dirty="0"/>
              <a:t>Algoritam promenljive okoline (VNS)</a:t>
            </a:r>
            <a:br>
              <a:rPr lang="sr-Latn-ME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vi-VN" dirty="0"/>
              <a:t>Izvršava se određen broj iteracija, u svakoj iteraciji radi se vrši razdrmavanje okoline(shaking) i lokalna pretraga</a:t>
            </a:r>
          </a:p>
          <a:p>
            <a:pPr fontAlgn="base"/>
            <a:endParaRPr lang="en-US" dirty="0" smtClean="0"/>
          </a:p>
          <a:p>
            <a:pPr fontAlgn="base"/>
            <a:r>
              <a:rPr lang="vi-VN" dirty="0" smtClean="0"/>
              <a:t>Shaking</a:t>
            </a:r>
            <a:r>
              <a:rPr lang="vi-VN" dirty="0"/>
              <a:t>: k puta se ili doda obrtaj na kraj, ili se ukloni nasumični obrtaj</a:t>
            </a:r>
          </a:p>
          <a:p>
            <a:pPr fontAlgn="base"/>
            <a:endParaRPr lang="en-US" dirty="0" smtClean="0"/>
          </a:p>
          <a:p>
            <a:pPr fontAlgn="base"/>
            <a:r>
              <a:rPr lang="vi-VN" dirty="0" smtClean="0"/>
              <a:t>Lokalna </a:t>
            </a:r>
            <a:r>
              <a:rPr lang="vi-VN" dirty="0"/>
              <a:t>pretraga: nalaze se svi obrti koji smanjuju broj breakpointa i nasumično bira jedan od njih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69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ME" dirty="0"/>
              <a:t>Genetski algoirtam</a:t>
            </a:r>
            <a:br>
              <a:rPr lang="sr-Latn-ME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ME" dirty="0" smtClean="0"/>
              <a:t>Nasumična inicijalizacija populacije</a:t>
            </a:r>
          </a:p>
          <a:p>
            <a:endParaRPr lang="sr-Latn-ME" dirty="0"/>
          </a:p>
          <a:p>
            <a:r>
              <a:rPr lang="sr-Latn-ME" dirty="0" smtClean="0"/>
              <a:t>Turnirska selekcija</a:t>
            </a:r>
          </a:p>
          <a:p>
            <a:endParaRPr lang="sr-Latn-ME" dirty="0" smtClean="0"/>
          </a:p>
          <a:p>
            <a:r>
              <a:rPr lang="sr-Latn-ME" dirty="0" smtClean="0"/>
              <a:t>Mutacija jednopozicionim ukrštanjem</a:t>
            </a:r>
          </a:p>
          <a:p>
            <a:endParaRPr lang="sr-Latn-ME" dirty="0"/>
          </a:p>
          <a:p>
            <a:r>
              <a:rPr lang="sr-Latn-ME" dirty="0" smtClean="0"/>
              <a:t>Elitizam</a:t>
            </a:r>
          </a:p>
          <a:p>
            <a:endParaRPr lang="sr-Latn-ME" dirty="0"/>
          </a:p>
          <a:p>
            <a:r>
              <a:rPr lang="sr-Latn-ME" smtClean="0"/>
              <a:t>Mogućnost lokalne pretrage</a:t>
            </a:r>
            <a:endParaRPr lang="sr-Latn-ME" dirty="0" smtClean="0"/>
          </a:p>
          <a:p>
            <a:endParaRPr lang="sr-Latn-ME" dirty="0"/>
          </a:p>
          <a:p>
            <a:r>
              <a:rPr lang="sr-Latn-ME" dirty="0" smtClean="0"/>
              <a:t>Složenost: </a:t>
            </a:r>
            <a:r>
              <a:rPr lang="en-US" dirty="0" smtClean="0"/>
              <a:t>O(P*G*n^3*R). </a:t>
            </a:r>
            <a:r>
              <a:rPr lang="en-US" dirty="0" err="1" smtClean="0"/>
              <a:t>Gde</a:t>
            </a:r>
            <a:r>
              <a:rPr lang="en-US" dirty="0" smtClean="0"/>
              <a:t> je </a:t>
            </a:r>
            <a:r>
              <a:rPr lang="en-US" dirty="0" err="1"/>
              <a:t>populacije</a:t>
            </a:r>
            <a:r>
              <a:rPr lang="en-US" dirty="0"/>
              <a:t> P, </a:t>
            </a:r>
            <a:r>
              <a:rPr lang="en-US" dirty="0" err="1"/>
              <a:t>broja</a:t>
            </a:r>
            <a:r>
              <a:rPr lang="en-US" dirty="0"/>
              <a:t> </a:t>
            </a:r>
            <a:r>
              <a:rPr lang="en-US" dirty="0" err="1"/>
              <a:t>generacija</a:t>
            </a:r>
            <a:r>
              <a:rPr lang="en-US" dirty="0"/>
              <a:t> G, </a:t>
            </a:r>
            <a:r>
              <a:rPr lang="en-US" dirty="0" err="1"/>
              <a:t>dužine</a:t>
            </a:r>
            <a:r>
              <a:rPr lang="en-US" dirty="0"/>
              <a:t> </a:t>
            </a:r>
            <a:r>
              <a:rPr lang="en-US" dirty="0" err="1"/>
              <a:t>permutacije</a:t>
            </a:r>
            <a:r>
              <a:rPr lang="en-US" dirty="0"/>
              <a:t> </a:t>
            </a:r>
            <a:r>
              <a:rPr lang="en-US" dirty="0" smtClean="0"/>
              <a:t>n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 </a:t>
            </a:r>
            <a:r>
              <a:rPr lang="en-US" dirty="0" err="1"/>
              <a:t>obrtaja</a:t>
            </a:r>
            <a:r>
              <a:rPr lang="en-US" dirty="0"/>
              <a:t> u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rešenju</a:t>
            </a:r>
            <a:r>
              <a:rPr lang="en-US" dirty="0"/>
              <a:t> </a:t>
            </a:r>
            <a:r>
              <a:rPr lang="en-US" dirty="0" smtClean="0"/>
              <a:t>R. </a:t>
            </a:r>
            <a:r>
              <a:rPr lang="en-US" dirty="0" err="1" smtClean="0"/>
              <a:t>Ako</a:t>
            </a:r>
            <a:r>
              <a:rPr lang="en-US" dirty="0" smtClean="0"/>
              <a:t> se ne </a:t>
            </a:r>
            <a:r>
              <a:rPr lang="en-US" dirty="0" err="1" smtClean="0"/>
              <a:t>koristi</a:t>
            </a:r>
            <a:r>
              <a:rPr lang="en-US" dirty="0" smtClean="0"/>
              <a:t> 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heuristikom</a:t>
            </a:r>
            <a:r>
              <a:rPr lang="en-US" dirty="0" smtClean="0"/>
              <a:t> </a:t>
            </a:r>
            <a:r>
              <a:rPr lang="en-US" dirty="0" err="1" smtClean="0"/>
              <a:t>lokalne</a:t>
            </a:r>
            <a:r>
              <a:rPr lang="en-US" dirty="0" smtClean="0"/>
              <a:t> </a:t>
            </a:r>
            <a:r>
              <a:rPr lang="en-US" dirty="0" err="1" smtClean="0"/>
              <a:t>pretrage</a:t>
            </a:r>
            <a:r>
              <a:rPr lang="en-US" dirty="0" smtClean="0"/>
              <a:t> </a:t>
            </a:r>
            <a:r>
              <a:rPr lang="en-US" dirty="0" err="1" smtClean="0"/>
              <a:t>slo</a:t>
            </a:r>
            <a:r>
              <a:rPr lang="sr-Latn-ME" dirty="0" smtClean="0"/>
              <a:t>ženost</a:t>
            </a:r>
            <a:r>
              <a:rPr lang="en-US" dirty="0" smtClean="0"/>
              <a:t> je n </a:t>
            </a:r>
            <a:r>
              <a:rPr lang="en-US" dirty="0" err="1" smtClean="0"/>
              <a:t>umesto</a:t>
            </a:r>
            <a:r>
              <a:rPr lang="en-US" dirty="0" smtClean="0"/>
              <a:t> n^3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37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Parametri Gentskog i VNS algoritma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6" t="45401" r="31595" b="13287"/>
          <a:stretch/>
        </p:blipFill>
        <p:spPr bwMode="auto">
          <a:xfrm>
            <a:off x="683568" y="1916832"/>
            <a:ext cx="7488832" cy="4506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3635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ME" b="0" dirty="0" smtClean="0"/>
              <a:t>Rezultat za male instance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err="1"/>
              <a:t>Svi</a:t>
            </a:r>
            <a:r>
              <a:rPr lang="en-US" dirty="0"/>
              <a:t> </a:t>
            </a:r>
            <a:r>
              <a:rPr lang="en-US" dirty="0" err="1"/>
              <a:t>algoritmi</a:t>
            </a:r>
            <a:r>
              <a:rPr lang="en-US" dirty="0"/>
              <a:t> </a:t>
            </a:r>
            <a:r>
              <a:rPr lang="en-US" dirty="0" err="1"/>
              <a:t>vraćaju</a:t>
            </a:r>
            <a:r>
              <a:rPr lang="en-US" dirty="0"/>
              <a:t> </a:t>
            </a:r>
            <a:r>
              <a:rPr lang="en-US" dirty="0" err="1"/>
              <a:t>ispravno</a:t>
            </a:r>
            <a:r>
              <a:rPr lang="en-US" dirty="0"/>
              <a:t> </a:t>
            </a:r>
            <a:r>
              <a:rPr lang="en-US" dirty="0" err="1"/>
              <a:t>rešenje</a:t>
            </a:r>
            <a:endParaRPr lang="en-US" dirty="0"/>
          </a:p>
          <a:p>
            <a:pPr fontAlgn="base"/>
            <a:r>
              <a:rPr lang="en-US" dirty="0" err="1"/>
              <a:t>Svi</a:t>
            </a:r>
            <a:r>
              <a:rPr lang="en-US" dirty="0"/>
              <a:t> </a:t>
            </a:r>
            <a:r>
              <a:rPr lang="en-US" dirty="0" err="1"/>
              <a:t>algoritmi</a:t>
            </a:r>
            <a:r>
              <a:rPr lang="en-US" dirty="0"/>
              <a:t> </a:t>
            </a:r>
            <a:r>
              <a:rPr lang="en-US" dirty="0" err="1"/>
              <a:t>osim</a:t>
            </a:r>
            <a:r>
              <a:rPr lang="en-US" dirty="0"/>
              <a:t> </a:t>
            </a:r>
            <a:r>
              <a:rPr lang="en-US" dirty="0" err="1"/>
              <a:t>pohlepnog</a:t>
            </a:r>
            <a:r>
              <a:rPr lang="en-US" dirty="0"/>
              <a:t> </a:t>
            </a:r>
            <a:r>
              <a:rPr lang="en-US" dirty="0" err="1"/>
              <a:t>vraćaju</a:t>
            </a:r>
            <a:r>
              <a:rPr lang="en-US" dirty="0"/>
              <a:t> </a:t>
            </a:r>
            <a:r>
              <a:rPr lang="en-US" dirty="0" err="1"/>
              <a:t>optimalno</a:t>
            </a:r>
            <a:r>
              <a:rPr lang="en-US" dirty="0"/>
              <a:t> </a:t>
            </a:r>
            <a:r>
              <a:rPr lang="en-US" dirty="0" err="1"/>
              <a:t>rešenje</a:t>
            </a:r>
            <a:endParaRPr lang="en-US" dirty="0"/>
          </a:p>
          <a:p>
            <a:pPr fontAlgn="base"/>
            <a:r>
              <a:rPr lang="en-US" dirty="0" err="1"/>
              <a:t>Algoritam</a:t>
            </a:r>
            <a:r>
              <a:rPr lang="en-US" dirty="0"/>
              <a:t> </a:t>
            </a:r>
            <a:r>
              <a:rPr lang="en-US" dirty="0" err="1"/>
              <a:t>grube</a:t>
            </a:r>
            <a:r>
              <a:rPr lang="en-US" dirty="0"/>
              <a:t> </a:t>
            </a:r>
            <a:r>
              <a:rPr lang="en-US" dirty="0" err="1"/>
              <a:t>sile</a:t>
            </a:r>
            <a:r>
              <a:rPr lang="en-US" dirty="0"/>
              <a:t> </a:t>
            </a:r>
            <a:r>
              <a:rPr lang="en-US" dirty="0" err="1"/>
              <a:t>sporiji</a:t>
            </a:r>
            <a:r>
              <a:rPr lang="en-US" dirty="0"/>
              <a:t> od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grananja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odsecanja</a:t>
            </a:r>
            <a:endParaRPr lang="en-US" dirty="0"/>
          </a:p>
          <a:p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00" t="59467" r="27275" b="18667"/>
          <a:stretch/>
        </p:blipFill>
        <p:spPr bwMode="auto">
          <a:xfrm>
            <a:off x="1547664" y="3573016"/>
            <a:ext cx="5330952" cy="1499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290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b="0" dirty="0"/>
              <a:t>Rezultat za </a:t>
            </a:r>
            <a:r>
              <a:rPr lang="sr-Latn-ME" b="0" dirty="0" smtClean="0"/>
              <a:t>srednje </a:t>
            </a:r>
            <a:r>
              <a:rPr lang="sr-Latn-ME" b="0" dirty="0"/>
              <a:t>instance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promenljivih</a:t>
            </a:r>
            <a:r>
              <a:rPr lang="en-US" dirty="0"/>
              <a:t> </a:t>
            </a:r>
            <a:r>
              <a:rPr lang="en-US" dirty="0" err="1"/>
              <a:t>okolina</a:t>
            </a:r>
            <a:r>
              <a:rPr lang="en-US" dirty="0"/>
              <a:t> </a:t>
            </a:r>
            <a:r>
              <a:rPr lang="en-US" dirty="0" err="1"/>
              <a:t>primetno</a:t>
            </a:r>
            <a:r>
              <a:rPr lang="en-US" dirty="0"/>
              <a:t> </a:t>
            </a:r>
            <a:r>
              <a:rPr lang="en-US" dirty="0" err="1"/>
              <a:t>lošija</a:t>
            </a:r>
            <a:r>
              <a:rPr lang="en-US" dirty="0"/>
              <a:t> </a:t>
            </a:r>
          </a:p>
          <a:p>
            <a:pPr fontAlgn="base"/>
            <a:r>
              <a:rPr lang="en-US" dirty="0" err="1"/>
              <a:t>Razlika</a:t>
            </a:r>
            <a:r>
              <a:rPr lang="en-US" dirty="0"/>
              <a:t> u </a:t>
            </a:r>
            <a:r>
              <a:rPr lang="en-US" dirty="0" err="1"/>
              <a:t>brzini</a:t>
            </a:r>
            <a:r>
              <a:rPr lang="en-US" dirty="0"/>
              <a:t> </a:t>
            </a:r>
            <a:r>
              <a:rPr lang="en-US" dirty="0" err="1"/>
              <a:t>algoritama</a:t>
            </a:r>
            <a:r>
              <a:rPr lang="en-US" dirty="0"/>
              <a:t> mala</a:t>
            </a:r>
          </a:p>
          <a:p>
            <a:pPr fontAlgn="base"/>
            <a:r>
              <a:rPr lang="en-US" dirty="0" err="1"/>
              <a:t>Genetski</a:t>
            </a:r>
            <a:r>
              <a:rPr lang="en-US" dirty="0"/>
              <a:t> </a:t>
            </a:r>
            <a:r>
              <a:rPr lang="en-US" dirty="0" err="1"/>
              <a:t>algoritam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visok</a:t>
            </a:r>
            <a:r>
              <a:rPr lang="en-US" dirty="0"/>
              <a:t> </a:t>
            </a:r>
            <a:r>
              <a:rPr lang="en-US" dirty="0" err="1"/>
              <a:t>stepen</a:t>
            </a:r>
            <a:r>
              <a:rPr lang="en-US" dirty="0"/>
              <a:t> </a:t>
            </a:r>
            <a:r>
              <a:rPr lang="en-US" dirty="0" err="1"/>
              <a:t>optimalnosti</a:t>
            </a:r>
            <a:endParaRPr lang="en-US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19" t="57319" r="28479" b="24399"/>
          <a:stretch/>
        </p:blipFill>
        <p:spPr bwMode="auto">
          <a:xfrm>
            <a:off x="755576" y="3587864"/>
            <a:ext cx="6677150" cy="1611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990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b="0" dirty="0"/>
              <a:t>Rezultat za </a:t>
            </a:r>
            <a:r>
              <a:rPr lang="sr-Latn-ME" b="0" dirty="0" smtClean="0"/>
              <a:t>velike </a:t>
            </a:r>
            <a:r>
              <a:rPr lang="sr-Latn-ME" b="0" dirty="0"/>
              <a:t>instance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promenjlivih</a:t>
            </a:r>
            <a:r>
              <a:rPr lang="en-US" dirty="0"/>
              <a:t> </a:t>
            </a:r>
            <a:r>
              <a:rPr lang="en-US" dirty="0" err="1"/>
              <a:t>okolina</a:t>
            </a:r>
            <a:r>
              <a:rPr lang="en-US" dirty="0"/>
              <a:t> </a:t>
            </a:r>
            <a:r>
              <a:rPr lang="en-US" dirty="0" err="1"/>
              <a:t>najlošija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najsporija</a:t>
            </a:r>
            <a:endParaRPr lang="en-US" dirty="0"/>
          </a:p>
          <a:p>
            <a:pPr fontAlgn="base"/>
            <a:r>
              <a:rPr lang="en-US" dirty="0" err="1"/>
              <a:t>Pohlepan</a:t>
            </a:r>
            <a:r>
              <a:rPr lang="en-US" dirty="0"/>
              <a:t> </a:t>
            </a:r>
            <a:r>
              <a:rPr lang="en-US" dirty="0" err="1"/>
              <a:t>algoritam</a:t>
            </a:r>
            <a:r>
              <a:rPr lang="en-US" dirty="0"/>
              <a:t> </a:t>
            </a:r>
            <a:r>
              <a:rPr lang="en-US" dirty="0" err="1"/>
              <a:t>brz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dalje</a:t>
            </a:r>
            <a:r>
              <a:rPr lang="en-US" dirty="0"/>
              <a:t> </a:t>
            </a:r>
            <a:r>
              <a:rPr lang="en-US" dirty="0" err="1"/>
              <a:t>najbolje</a:t>
            </a:r>
            <a:r>
              <a:rPr lang="en-US" dirty="0"/>
              <a:t> </a:t>
            </a:r>
            <a:r>
              <a:rPr lang="en-US" dirty="0" err="1"/>
              <a:t>rezultate</a:t>
            </a:r>
            <a:endParaRPr lang="en-US" dirty="0"/>
          </a:p>
          <a:p>
            <a:pPr fontAlgn="base"/>
            <a:r>
              <a:rPr lang="en-US" dirty="0" err="1"/>
              <a:t>Genetski</a:t>
            </a:r>
            <a:r>
              <a:rPr lang="en-US" dirty="0"/>
              <a:t> </a:t>
            </a:r>
            <a:r>
              <a:rPr lang="en-US" dirty="0" err="1"/>
              <a:t>algoritam</a:t>
            </a:r>
            <a:r>
              <a:rPr lang="en-US" dirty="0"/>
              <a:t> </a:t>
            </a:r>
            <a:r>
              <a:rPr lang="en-US" dirty="0" err="1"/>
              <a:t>ponekad</a:t>
            </a:r>
            <a:r>
              <a:rPr lang="en-US" dirty="0"/>
              <a:t> </a:t>
            </a:r>
            <a:r>
              <a:rPr lang="en-US" dirty="0" err="1"/>
              <a:t>daje</a:t>
            </a:r>
            <a:r>
              <a:rPr lang="en-US" dirty="0"/>
              <a:t> </a:t>
            </a:r>
            <a:r>
              <a:rPr lang="en-US" dirty="0" err="1"/>
              <a:t>bolje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, pa </a:t>
            </a:r>
            <a:r>
              <a:rPr lang="en-US" dirty="0" err="1"/>
              <a:t>ga</a:t>
            </a:r>
            <a:r>
              <a:rPr lang="en-US" dirty="0"/>
              <a:t> ne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 smtClean="0"/>
              <a:t>odbaciti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63" t="50000" r="27783" b="34845"/>
          <a:stretch/>
        </p:blipFill>
        <p:spPr bwMode="auto">
          <a:xfrm>
            <a:off x="1187623" y="4077072"/>
            <a:ext cx="6399049" cy="1255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88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/>
              <a:t>Analiza promene funkcije cilja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71" t="36770" r="32045" b="6862"/>
          <a:stretch/>
        </p:blipFill>
        <p:spPr bwMode="auto">
          <a:xfrm>
            <a:off x="755576" y="1556792"/>
            <a:ext cx="6984776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471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atch">
  <a:themeElements>
    <a:clrScheme name="Thatch">
      <a:dk1>
        <a:sysClr val="windowText" lastClr="000000"/>
      </a:dk1>
      <a:lt1>
        <a:sysClr val="window" lastClr="FFFFFF"/>
      </a:lt1>
      <a:dk2>
        <a:srgbClr val="1D3641"/>
      </a:dk2>
      <a:lt2>
        <a:srgbClr val="DFE6D0"/>
      </a:lt2>
      <a:accent1>
        <a:srgbClr val="759AA5"/>
      </a:accent1>
      <a:accent2>
        <a:srgbClr val="CFC60D"/>
      </a:accent2>
      <a:accent3>
        <a:srgbClr val="99987F"/>
      </a:accent3>
      <a:accent4>
        <a:srgbClr val="90AC97"/>
      </a:accent4>
      <a:accent5>
        <a:srgbClr val="FFAD1C"/>
      </a:accent5>
      <a:accent6>
        <a:srgbClr val="B9AB6F"/>
      </a:accent6>
      <a:hlink>
        <a:srgbClr val="66AACD"/>
      </a:hlink>
      <a:folHlink>
        <a:srgbClr val="809DB3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hatch">
      <a:fillStyleLst>
        <a:solidFill>
          <a:schemeClr val="phClr"/>
        </a:solidFill>
        <a:gradFill rotWithShape="1">
          <a:gsLst>
            <a:gs pos="0">
              <a:schemeClr val="phClr">
                <a:tint val="79000"/>
                <a:satMod val="180000"/>
              </a:schemeClr>
            </a:gs>
            <a:gs pos="65000">
              <a:schemeClr val="phClr">
                <a:tint val="52000"/>
                <a:satMod val="250000"/>
              </a:schemeClr>
            </a:gs>
            <a:gs pos="100000">
              <a:schemeClr val="phClr">
                <a:tint val="29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8700000"/>
            </a:lightRig>
          </a:scene3d>
          <a:sp3d contourW="12700" prstMaterial="dkEdge">
            <a:bevelT w="0" h="0" prst="relaxedInset"/>
            <a:contourClr>
              <a:schemeClr val="phClr">
                <a:shade val="65000"/>
                <a:satMod val="15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13200000"/>
            </a:lightRig>
          </a:scene3d>
          <a:sp3d prstMaterial="dkEdge">
            <a:bevelT w="63500" h="508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hade val="95000"/>
                <a:satMod val="200000"/>
              </a:schemeClr>
            </a:gs>
            <a:gs pos="53000">
              <a:schemeClr val="phClr">
                <a:shade val="60000"/>
                <a:satMod val="220000"/>
              </a:schemeClr>
            </a:gs>
            <a:gs pos="100000">
              <a:schemeClr val="phClr">
                <a:shade val="45000"/>
                <a:satMod val="22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3000"/>
                <a:shade val="97000"/>
                <a:satMod val="230000"/>
              </a:schemeClr>
            </a:gs>
            <a:gs pos="100000">
              <a:schemeClr val="phClr">
                <a:shade val="35000"/>
                <a:satMod val="250000"/>
              </a:schemeClr>
            </a:gs>
          </a:gsLst>
          <a:path path="circle">
            <a:fillToRect l="15000" t="50000" r="85000" b="6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Thatch</Template>
  <TotalTime>297</TotalTime>
  <Words>486</Words>
  <Application>Microsoft Office PowerPoint</Application>
  <PresentationFormat>On-screen Show (4:3)</PresentationFormat>
  <Paragraphs>79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Thatch</vt:lpstr>
      <vt:lpstr>Minimum sorting by reversals</vt:lpstr>
      <vt:lpstr>Definicije</vt:lpstr>
      <vt:lpstr>Formulacija problema</vt:lpstr>
      <vt:lpstr>Implementirani algoritmi </vt:lpstr>
      <vt:lpstr>Algoritam grube sile (BFS)</vt:lpstr>
      <vt:lpstr>Tačke prekida</vt:lpstr>
      <vt:lpstr>Pohlepni algoritam</vt:lpstr>
      <vt:lpstr>Algoritam grananja i odsecanja </vt:lpstr>
      <vt:lpstr>Funkcija cilja</vt:lpstr>
      <vt:lpstr>Algoritam promenljive okoline (VNS) </vt:lpstr>
      <vt:lpstr>Genetski algoirtam </vt:lpstr>
      <vt:lpstr>Parametri Gentskog i VNS algoritma</vt:lpstr>
      <vt:lpstr>Rezultat za male instance</vt:lpstr>
      <vt:lpstr>Rezultat za srednje instance</vt:lpstr>
      <vt:lpstr>Rezultat za velike instance</vt:lpstr>
      <vt:lpstr>Analiza promene funkcije cilja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Minimum sorting by reversals</dc:title>
  <dc:creator>Matija</dc:creator>
  <cp:lastModifiedBy>Matija</cp:lastModifiedBy>
  <cp:revision>12</cp:revision>
  <dcterms:created xsi:type="dcterms:W3CDTF">2026-03-06T15:33:50Z</dcterms:created>
  <dcterms:modified xsi:type="dcterms:W3CDTF">2026-03-06T20:37:34Z</dcterms:modified>
</cp:coreProperties>
</file>